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VWSF/kr7QYQDX9UL0CPu5/x2D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2"/>
  </p:normalViewPr>
  <p:slideViewPr>
    <p:cSldViewPr snapToGrid="0">
      <p:cViewPr varScale="1">
        <p:scale>
          <a:sx n="111" d="100"/>
          <a:sy n="111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75725c767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275725c767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g1275725c767_0_2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75725c767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1275725c767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g1275725c767_0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88b62eb4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2588b62eb4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2588b62eb49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75725c767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275725c767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1275725c767_0_2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6045a813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6045a813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16045a8139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6283baf4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26283baf4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26283baf41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88b62eb4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588b62eb4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2588b62eb49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8b62eb4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2588b62eb4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2588b62eb49_0_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88b62eb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588b62eb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2588b62eb49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88b62eb4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588b62eb4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588b62eb49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88b62eb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588b62eb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2588b62eb49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88b62eb4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88b62eb4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2588b62eb49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588b62eb4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588b62eb4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2588b62eb49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88b62eb4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2588b62eb4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588b62eb49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588b62eb4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2588b62eb4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2588b62eb49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3d77e52ee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3d77e52ee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23d77e52ee8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88b62eb4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588b62eb4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2588b62eb49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88b62eb4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2588b62eb4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2588b62eb49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588b62eb4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588b62eb4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2588b62eb49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3d77e52ee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3d77e52ee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23d77e52ee8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275725c767_0_157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g1275725c767_0_157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g1275725c767_0_15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275725c767_0_16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1275725c767_0_16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275725c767_0_16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1275725c767_0_16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1275725c767_0_16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275725c767_0_19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275725c767_0_1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1275725c767_0_198"/>
          <p:cNvSpPr txBox="1">
            <a:spLocks noGrp="1"/>
          </p:cNvSpPr>
          <p:nvPr>
            <p:ph type="dt" idx="10"/>
          </p:nvPr>
        </p:nvSpPr>
        <p:spPr>
          <a:xfrm rot="-5400000">
            <a:off x="7551321" y="1645950"/>
            <a:ext cx="243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g1275725c767_0_198"/>
          <p:cNvSpPr txBox="1">
            <a:spLocks noGrp="1"/>
          </p:cNvSpPr>
          <p:nvPr>
            <p:ph type="ftr" idx="11"/>
          </p:nvPr>
        </p:nvSpPr>
        <p:spPr>
          <a:xfrm rot="-5400000">
            <a:off x="7586871" y="4048781"/>
            <a:ext cx="2367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g1275725c767_0_198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700" cy="396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1275725c767_0_19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275725c767_0_16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1275725c767_0_16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g1275725c767_0_168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275725c767_0_16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275725c767_0_17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1275725c767_0_17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275725c767_0_17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g1275725c767_0_176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g1275725c767_0_17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275725c767_0_180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g1275725c767_0_18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275725c767_0_18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1275725c767_0_183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g1275725c767_0_183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g1275725c767_0_183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275725c767_0_18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275725c767_0_189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5" name="Google Shape;55;g1275725c767_0_18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75725c767_0_192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g1275725c767_0_192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g1275725c767_0_19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275725c767_0_15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275725c767_0_15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1275725c767_0_1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ctrTitle"/>
          </p:nvPr>
        </p:nvSpPr>
        <p:spPr>
          <a:xfrm>
            <a:off x="88800" y="818525"/>
            <a:ext cx="89664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Garamond"/>
              <a:buNone/>
            </a:pPr>
            <a:r>
              <a:rPr lang="en-US" sz="5600"/>
              <a:t>Visualizing Data with Graphs &amp; Normality Testing</a:t>
            </a:r>
            <a:endParaRPr sz="7800"/>
          </a:p>
        </p:txBody>
      </p:sp>
      <p:pic>
        <p:nvPicPr>
          <p:cNvPr id="66" name="Google Shape;66;p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0175" y="2948750"/>
            <a:ext cx="5403651" cy="371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75725c767_0_233"/>
          <p:cNvSpPr txBox="1">
            <a:spLocks noGrp="1"/>
          </p:cNvSpPr>
          <p:nvPr>
            <p:ph type="title"/>
          </p:nvPr>
        </p:nvSpPr>
        <p:spPr>
          <a:xfrm>
            <a:off x="311700" y="7602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Visualizing Relations</a:t>
            </a:r>
            <a:endParaRPr/>
          </a:p>
        </p:txBody>
      </p:sp>
      <p:pic>
        <p:nvPicPr>
          <p:cNvPr id="73" name="Google Shape;73;g1275725c767_0_2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038" y="2286000"/>
            <a:ext cx="7075925" cy="41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275725c767_0_2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Data Visualization</a:t>
            </a:r>
            <a:endParaRPr/>
          </a:p>
        </p:txBody>
      </p:sp>
      <p:sp>
        <p:nvSpPr>
          <p:cNvPr id="80" name="Google Shape;80;g1275725c767_0_24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Graphs before stats!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SUPER important to do </a:t>
            </a:r>
            <a:r>
              <a:rPr lang="en-US" b="1" u="sng">
                <a:solidFill>
                  <a:schemeClr val="dk1"/>
                </a:solidFill>
              </a:rPr>
              <a:t>before</a:t>
            </a:r>
            <a:r>
              <a:rPr lang="en-US">
                <a:solidFill>
                  <a:schemeClr val="dk1"/>
                </a:solidFill>
              </a:rPr>
              <a:t> conducting any statistical analysis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What it does do: provides idea of what to expect in the data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What it does NOT do: provide statistical/practical significance in the data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1" name="Google Shape;81;g1275725c767_0_243" descr="Image depicting a positive, negative, and no correlation on a scatterplot"/>
          <p:cNvPicPr preferRelativeResize="0"/>
          <p:nvPr/>
        </p:nvPicPr>
        <p:blipFill rotWithShape="1">
          <a:blip r:embed="rId3">
            <a:alphaModFix/>
          </a:blip>
          <a:srcRect t="16028"/>
          <a:stretch/>
        </p:blipFill>
        <p:spPr>
          <a:xfrm>
            <a:off x="0" y="3613000"/>
            <a:ext cx="9144000" cy="32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88b62eb49_0_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Gold Standard for Data Visualization</a:t>
            </a:r>
            <a:endParaRPr/>
          </a:p>
        </p:txBody>
      </p:sp>
      <p:sp>
        <p:nvSpPr>
          <p:cNvPr id="88" name="Google Shape;88;g2588b62eb49_0_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For linear data to analyze associations or predictions, use </a:t>
            </a:r>
            <a:r>
              <a:rPr lang="en-US" b="1">
                <a:solidFill>
                  <a:schemeClr val="dk1"/>
                </a:solidFill>
              </a:rPr>
              <a:t>scatterplots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Good for correlations, regressions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For data between/within groups to analyze mean differences, use </a:t>
            </a:r>
            <a:r>
              <a:rPr lang="en-US" b="1">
                <a:solidFill>
                  <a:schemeClr val="dk1"/>
                </a:solidFill>
              </a:rPr>
              <a:t>boxplots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Good for </a:t>
            </a:r>
            <a:r>
              <a:rPr lang="en-US" i="1">
                <a:solidFill>
                  <a:schemeClr val="dk1"/>
                </a:solidFill>
              </a:rPr>
              <a:t>t</a:t>
            </a:r>
            <a:r>
              <a:rPr lang="en-US">
                <a:solidFill>
                  <a:schemeClr val="dk1"/>
                </a:solidFill>
              </a:rPr>
              <a:t>-tests, ANOVAs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g2588b62eb49_0_1" descr="Boxplot example with three groups"/>
          <p:cNvPicPr preferRelativeResize="0"/>
          <p:nvPr/>
        </p:nvPicPr>
        <p:blipFill rotWithShape="1">
          <a:blip r:embed="rId3">
            <a:alphaModFix/>
          </a:blip>
          <a:srcRect t="15627" r="7441" b="4016"/>
          <a:stretch/>
        </p:blipFill>
        <p:spPr>
          <a:xfrm>
            <a:off x="4486675" y="3092250"/>
            <a:ext cx="4208299" cy="365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588b62eb49_0_1" descr="scatterplot example with a line of best f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6463" y="3092250"/>
            <a:ext cx="4375536" cy="35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75725c767_0_249"/>
          <p:cNvSpPr txBox="1">
            <a:spLocks noGrp="1"/>
          </p:cNvSpPr>
          <p:nvPr>
            <p:ph type="title"/>
          </p:nvPr>
        </p:nvSpPr>
        <p:spPr>
          <a:xfrm>
            <a:off x="311700" y="219875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Practice Data Visualization: SPSS</a:t>
            </a:r>
            <a:endParaRPr/>
          </a:p>
        </p:txBody>
      </p:sp>
      <p:pic>
        <p:nvPicPr>
          <p:cNvPr id="97" name="Google Shape;97;g1275725c767_0_2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0475" y="3687325"/>
            <a:ext cx="2903050" cy="29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045a81392_0_0"/>
          <p:cNvSpPr txBox="1">
            <a:spLocks noGrp="1"/>
          </p:cNvSpPr>
          <p:nvPr>
            <p:ph type="title"/>
          </p:nvPr>
        </p:nvSpPr>
        <p:spPr>
          <a:xfrm>
            <a:off x="457200" y="201113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300"/>
              <a:t>Scatterplot</a:t>
            </a:r>
            <a:endParaRPr sz="3300"/>
          </a:p>
        </p:txBody>
      </p:sp>
      <p:sp>
        <p:nvSpPr>
          <p:cNvPr id="104" name="Google Shape;104;g16045a81392_0_0"/>
          <p:cNvSpPr txBox="1">
            <a:spLocks noGrp="1"/>
          </p:cNvSpPr>
          <p:nvPr>
            <p:ph type="body" idx="1"/>
          </p:nvPr>
        </p:nvSpPr>
        <p:spPr>
          <a:xfrm>
            <a:off x="457200" y="1344125"/>
            <a:ext cx="834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300">
                <a:solidFill>
                  <a:schemeClr val="dk1"/>
                </a:solidFill>
              </a:rPr>
              <a:t>Graphs &gt; Scatter/dot</a:t>
            </a:r>
            <a:endParaRPr sz="23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900">
                <a:solidFill>
                  <a:schemeClr val="dk1"/>
                </a:solidFill>
              </a:rPr>
              <a:t>Simple scatter &gt; define</a:t>
            </a:r>
            <a:endParaRPr sz="19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900">
                <a:solidFill>
                  <a:schemeClr val="dk1"/>
                </a:solidFill>
              </a:rPr>
              <a:t>Move 1 variable into the X axis and one into the Y axis (doesn’t matter which)</a:t>
            </a:r>
            <a:endParaRPr sz="1900">
              <a:solidFill>
                <a:schemeClr val="dk1"/>
              </a:solidFill>
            </a:endParaRPr>
          </a:p>
          <a:p>
            <a:pPr marL="1371600" lvl="2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900">
                <a:solidFill>
                  <a:schemeClr val="dk1"/>
                </a:solidFill>
              </a:rPr>
              <a:t>Use </a:t>
            </a:r>
            <a:r>
              <a:rPr lang="en-US" sz="1900" b="1">
                <a:solidFill>
                  <a:schemeClr val="dk1"/>
                </a:solidFill>
              </a:rPr>
              <a:t>Height </a:t>
            </a:r>
            <a:r>
              <a:rPr lang="en-US" sz="1900">
                <a:solidFill>
                  <a:schemeClr val="dk1"/>
                </a:solidFill>
              </a:rPr>
              <a:t>as X and </a:t>
            </a:r>
            <a:r>
              <a:rPr lang="en-US" sz="1900" b="1">
                <a:solidFill>
                  <a:schemeClr val="dk1"/>
                </a:solidFill>
              </a:rPr>
              <a:t>preweight</a:t>
            </a:r>
            <a:r>
              <a:rPr lang="en-US" sz="1900">
                <a:solidFill>
                  <a:schemeClr val="dk1"/>
                </a:solidFill>
              </a:rPr>
              <a:t> for Y</a:t>
            </a:r>
            <a:endParaRPr sz="19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900">
                <a:solidFill>
                  <a:schemeClr val="dk1"/>
                </a:solidFill>
              </a:rPr>
              <a:t>Click OK</a:t>
            </a:r>
            <a:endParaRPr sz="1900">
              <a:solidFill>
                <a:schemeClr val="dk1"/>
              </a:solidFill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1900">
                <a:solidFill>
                  <a:schemeClr val="dk1"/>
                </a:solidFill>
              </a:rPr>
              <a:t>Then, let’s add a regression line of best fit</a:t>
            </a:r>
            <a:endParaRPr sz="1900">
              <a:solidFill>
                <a:schemeClr val="dk1"/>
              </a:solidFill>
            </a:endParaRPr>
          </a:p>
          <a:p>
            <a:pPr marL="1371600" lvl="2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900">
                <a:solidFill>
                  <a:schemeClr val="dk1"/>
                </a:solidFill>
              </a:rPr>
              <a:t>Left click twice on the graph</a:t>
            </a:r>
            <a:endParaRPr sz="1900">
              <a:solidFill>
                <a:schemeClr val="dk1"/>
              </a:solidFill>
            </a:endParaRPr>
          </a:p>
          <a:p>
            <a:pPr marL="1371600" lvl="2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900">
                <a:solidFill>
                  <a:schemeClr val="dk1"/>
                </a:solidFill>
              </a:rPr>
              <a:t>Click Elements &gt; Fit Line at Total &gt; Close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126283baf41_0_55" descr="Scatterplot using height as the x axis and weight as the y axi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685800"/>
            <a:ext cx="8524875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88b62eb49_0_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Boxplot</a:t>
            </a:r>
            <a:endParaRPr/>
          </a:p>
        </p:txBody>
      </p:sp>
      <p:sp>
        <p:nvSpPr>
          <p:cNvPr id="117" name="Google Shape;117;g2588b62eb49_0_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300">
                <a:solidFill>
                  <a:schemeClr val="dk1"/>
                </a:solidFill>
              </a:rPr>
              <a:t>Graphs &gt; Boxplot</a:t>
            </a:r>
            <a:endParaRPr sz="23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200">
                <a:solidFill>
                  <a:schemeClr val="dk1"/>
                </a:solidFill>
              </a:rPr>
              <a:t>Define (keep defaults)</a:t>
            </a:r>
            <a:endParaRPr sz="22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200">
                <a:solidFill>
                  <a:schemeClr val="dk1"/>
                </a:solidFill>
              </a:rPr>
              <a:t>Variable: </a:t>
            </a:r>
            <a:r>
              <a:rPr lang="en-US" sz="2200" b="1">
                <a:solidFill>
                  <a:schemeClr val="dk1"/>
                </a:solidFill>
              </a:rPr>
              <a:t>WeightLOST </a:t>
            </a:r>
            <a:r>
              <a:rPr lang="en-US" sz="2200">
                <a:solidFill>
                  <a:schemeClr val="dk1"/>
                </a:solidFill>
              </a:rPr>
              <a:t>(DV)</a:t>
            </a:r>
            <a:endParaRPr sz="22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200">
                <a:solidFill>
                  <a:schemeClr val="dk1"/>
                </a:solidFill>
              </a:rPr>
              <a:t>Category axis: </a:t>
            </a:r>
            <a:r>
              <a:rPr lang="en-US" sz="2200" b="1">
                <a:solidFill>
                  <a:schemeClr val="dk1"/>
                </a:solidFill>
              </a:rPr>
              <a:t>diet </a:t>
            </a:r>
            <a:r>
              <a:rPr lang="en-US" sz="2200">
                <a:solidFill>
                  <a:schemeClr val="dk1"/>
                </a:solidFill>
              </a:rPr>
              <a:t>(IV, grouping variable)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588b62eb49_0_77" descr="Boxplot using diet as the x axis and weight loss on the y axi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685800"/>
            <a:ext cx="8524875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588b62eb49_0_77"/>
          <p:cNvSpPr txBox="1"/>
          <p:nvPr/>
        </p:nvSpPr>
        <p:spPr>
          <a:xfrm>
            <a:off x="1739100" y="6015800"/>
            <a:ext cx="58845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What can you tell by looking at this graph?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88b62eb49_0_9"/>
          <p:cNvSpPr txBox="1">
            <a:spLocks noGrp="1"/>
          </p:cNvSpPr>
          <p:nvPr>
            <p:ph type="ctrTitle"/>
          </p:nvPr>
        </p:nvSpPr>
        <p:spPr>
          <a:xfrm>
            <a:off x="311700" y="357195"/>
            <a:ext cx="8520600" cy="10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Normality Testing</a:t>
            </a:r>
            <a:endParaRPr/>
          </a:p>
        </p:txBody>
      </p:sp>
      <p:pic>
        <p:nvPicPr>
          <p:cNvPr id="131" name="Google Shape;131;g2588b62eb49_0_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6975" y="1753575"/>
            <a:ext cx="6430049" cy="50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88b62eb49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Normality Testing?</a:t>
            </a:r>
            <a:endParaRPr/>
          </a:p>
        </p:txBody>
      </p:sp>
      <p:sp>
        <p:nvSpPr>
          <p:cNvPr id="138" name="Google Shape;138;g2588b62eb49_0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0847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Method used to ensure that data are normally distributed, which is a core assumption to many statistical analyses--only with quantitative variables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If data are normally distributed, we are good to go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If data are </a:t>
            </a:r>
            <a:r>
              <a:rPr lang="en-US" u="sng">
                <a:solidFill>
                  <a:schemeClr val="dk1"/>
                </a:solidFill>
              </a:rPr>
              <a:t>not</a:t>
            </a:r>
            <a:r>
              <a:rPr lang="en-US">
                <a:solidFill>
                  <a:schemeClr val="dk1"/>
                </a:solidFill>
              </a:rPr>
              <a:t> normally distributed, we will have to proceed with caution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9" name="Google Shape;139;g2588b62eb49_0_16" descr="Examples of normally distributed versus skewed distribution on histogram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190863"/>
            <a:ext cx="762000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88b62eb49_0_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Do We Test for Normality?</a:t>
            </a:r>
            <a:endParaRPr/>
          </a:p>
        </p:txBody>
      </p:sp>
      <p:sp>
        <p:nvSpPr>
          <p:cNvPr id="146" name="Google Shape;146;g2588b62eb49_0_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Visualize data with a histogram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Check skewness and kurtosis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Run the Shapiro-Wilk Test for Normality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g2588b62eb49_0_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017" t="15725" r="20451"/>
          <a:stretch/>
        </p:blipFill>
        <p:spPr>
          <a:xfrm>
            <a:off x="1872688" y="2842575"/>
            <a:ext cx="5398625" cy="38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88b62eb49_0_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Skewness?</a:t>
            </a:r>
            <a:endParaRPr/>
          </a:p>
        </p:txBody>
      </p:sp>
      <p:sp>
        <p:nvSpPr>
          <p:cNvPr id="154" name="Google Shape;154;g2588b62eb49_0_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rgbClr val="111111"/>
                </a:solidFill>
                <a:highlight>
                  <a:srgbClr val="FFFFFF"/>
                </a:highlight>
              </a:rPr>
              <a:t>Measurement of the distortion of symmetrical distribution or asymmetry in a data set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55" name="Google Shape;155;g2588b62eb49_0_37" descr="Positive skew, symmetrical, negative skew left to righ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850" y="3209250"/>
            <a:ext cx="7522300" cy="28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88b62eb49_0_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Kurtosis?</a:t>
            </a:r>
            <a:endParaRPr/>
          </a:p>
        </p:txBody>
      </p:sp>
      <p:sp>
        <p:nvSpPr>
          <p:cNvPr id="162" name="Google Shape;162;g2588b62eb49_0_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rgbClr val="111111"/>
                </a:solidFill>
                <a:highlight>
                  <a:srgbClr val="FFFFFF"/>
                </a:highlight>
              </a:rPr>
              <a:t>Kurtosis is a measure of the combined weight of a distribution's tails relative to the center of the distribution curve (the mean)</a:t>
            </a:r>
            <a:endParaRPr sz="2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Char char="•"/>
            </a:pPr>
            <a:r>
              <a:rPr lang="en-US" sz="2000">
                <a:solidFill>
                  <a:srgbClr val="111111"/>
                </a:solidFill>
                <a:highlight>
                  <a:srgbClr val="FFFFFF"/>
                </a:highlight>
              </a:rPr>
              <a:t>Goal: mesokurtic</a:t>
            </a:r>
            <a:endParaRPr sz="2000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  <p:pic>
        <p:nvPicPr>
          <p:cNvPr id="163" name="Google Shape;163;g2588b62eb49_0_29" descr="Kurtosis examples: platykurtic is wide and short, mesokurtis is normal, and leptokurtic is tall and narrow."/>
          <p:cNvPicPr preferRelativeResize="0"/>
          <p:nvPr/>
        </p:nvPicPr>
        <p:blipFill rotWithShape="1">
          <a:blip r:embed="rId3">
            <a:alphaModFix/>
          </a:blip>
          <a:srcRect l="3333" t="9607" r="3789" b="10128"/>
          <a:stretch/>
        </p:blipFill>
        <p:spPr>
          <a:xfrm>
            <a:off x="1571650" y="3357550"/>
            <a:ext cx="6221824" cy="332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588b62eb49_0_47"/>
          <p:cNvSpPr txBox="1">
            <a:spLocks noGrp="1"/>
          </p:cNvSpPr>
          <p:nvPr>
            <p:ph type="title"/>
          </p:nvPr>
        </p:nvSpPr>
        <p:spPr>
          <a:xfrm>
            <a:off x="311700" y="219875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Practice Normality Testing: SPSS</a:t>
            </a:r>
            <a:endParaRPr/>
          </a:p>
        </p:txBody>
      </p:sp>
      <p:pic>
        <p:nvPicPr>
          <p:cNvPr id="170" name="Google Shape;170;g2588b62eb49_0_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0475" y="3687325"/>
            <a:ext cx="2903050" cy="29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88b62eb49_0_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Step 1: Make a Histogram</a:t>
            </a:r>
            <a:endParaRPr/>
          </a:p>
        </p:txBody>
      </p:sp>
      <p:sp>
        <p:nvSpPr>
          <p:cNvPr id="177" name="Google Shape;177;g2588b62eb49_0_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300">
                <a:solidFill>
                  <a:schemeClr val="dk1"/>
                </a:solidFill>
              </a:rPr>
              <a:t>Graphs &gt; Histogram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Variable: WeightLOST</a:t>
            </a:r>
            <a:endParaRPr sz="230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Check display normal curve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Click OK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23d77e52ee8_0_3" descr="Histogram of weight loss on x axis and frequency on y axi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38" y="245738"/>
            <a:ext cx="8411325" cy="63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588b62eb49_0_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Step 2: Check Skewness and Kurtosis</a:t>
            </a:r>
            <a:endParaRPr/>
          </a:p>
        </p:txBody>
      </p:sp>
      <p:sp>
        <p:nvSpPr>
          <p:cNvPr id="190" name="Google Shape;190;g2588b62eb49_0_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Analyze &gt; Descriptive Statistics &gt; Descriptives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Options &gt; check Skewness and Kurtosis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Click OK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1" name="Google Shape;191;g2588b62eb49_0_59" descr="Descriptive statistics output in SPS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21275"/>
            <a:ext cx="9144000" cy="2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2588b62eb49_0_59"/>
          <p:cNvSpPr txBox="1"/>
          <p:nvPr/>
        </p:nvSpPr>
        <p:spPr>
          <a:xfrm>
            <a:off x="284400" y="5272025"/>
            <a:ext cx="8575200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Skewness &amp; Kurtosis acceptable range: -2 - +2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Different researchers will give different ranges, but to really know, run the Shapiro-Wilk test</a:t>
            </a:r>
            <a:endParaRPr sz="1800"/>
          </a:p>
        </p:txBody>
      </p:sp>
      <p:sp>
        <p:nvSpPr>
          <p:cNvPr id="193" name="Google Shape;193;g2588b62eb49_0_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275" y="4429800"/>
            <a:ext cx="634500" cy="229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2588b62eb49_0_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3525" y="4429800"/>
            <a:ext cx="634500" cy="229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88b62eb49_0_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Step 3: Run the Shapiro-Wilk Test for Normality</a:t>
            </a:r>
            <a:endParaRPr/>
          </a:p>
        </p:txBody>
      </p:sp>
      <p:sp>
        <p:nvSpPr>
          <p:cNvPr id="201" name="Google Shape;201;g2588b62eb49_0_6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Analyze &gt; Descriptives &gt; Explore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Dependent list: WeightLOST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Plots &gt; check Normality plots with tests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Note: SPSS will provide a bunch of output, but this is what really matters: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2" name="Google Shape;202;g2588b62eb49_0_65" descr="Test of normality output in SPS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0" y="3429000"/>
            <a:ext cx="9085400" cy="25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588b62eb49_0_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9825" y="4889200"/>
            <a:ext cx="3259500" cy="339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2588b62eb49_0_65"/>
          <p:cNvSpPr txBox="1"/>
          <p:nvPr/>
        </p:nvSpPr>
        <p:spPr>
          <a:xfrm>
            <a:off x="7612700" y="5567325"/>
            <a:ext cx="15315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Significant? What does this mean?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88b62eb49_0_8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Do We Do If We Violate Normality?</a:t>
            </a:r>
            <a:endParaRPr/>
          </a:p>
        </p:txBody>
      </p:sp>
      <p:sp>
        <p:nvSpPr>
          <p:cNvPr id="211" name="Google Shape;211;g2588b62eb49_0_8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Huge bummer–but not the end of the world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We won’t be able to analyze the statistics using any analysis we will discuss in this class because they require the assumption of normality :(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But, there are specialized non-parametric tests that do not require the assumption of normality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There is one for every test we’ll discuss in this class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Remember: normality testing is one of the instances where we do </a:t>
            </a:r>
            <a:r>
              <a:rPr lang="en-US" b="1" u="sng">
                <a:solidFill>
                  <a:schemeClr val="dk1"/>
                </a:solidFill>
              </a:rPr>
              <a:t>NOT</a:t>
            </a:r>
            <a:r>
              <a:rPr lang="en-US">
                <a:solidFill>
                  <a:schemeClr val="dk1"/>
                </a:solidFill>
              </a:rPr>
              <a:t> want </a:t>
            </a:r>
            <a:r>
              <a:rPr lang="en-US" i="1">
                <a:solidFill>
                  <a:schemeClr val="dk1"/>
                </a:solidFill>
              </a:rPr>
              <a:t>p</a:t>
            </a:r>
            <a:r>
              <a:rPr lang="en-US">
                <a:solidFill>
                  <a:schemeClr val="dk1"/>
                </a:solidFill>
              </a:rPr>
              <a:t> &lt; .05! If this happens, data are not normally distributed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If </a:t>
            </a:r>
            <a:r>
              <a:rPr lang="en-US" i="1">
                <a:solidFill>
                  <a:schemeClr val="dk1"/>
                </a:solidFill>
              </a:rPr>
              <a:t>p</a:t>
            </a:r>
            <a:r>
              <a:rPr lang="en-US">
                <a:solidFill>
                  <a:schemeClr val="dk1"/>
                </a:solidFill>
              </a:rPr>
              <a:t> &gt; .05, we’re in the clear: data are normally distributed, proceed as usual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3d77e52ee8_0_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Analyses to Use When Normality Has Been Violated</a:t>
            </a:r>
            <a:endParaRPr/>
          </a:p>
        </p:txBody>
      </p:sp>
      <p:sp>
        <p:nvSpPr>
          <p:cNvPr id="218" name="Google Shape;218;g23d77e52ee8_0_17"/>
          <p:cNvSpPr txBox="1">
            <a:spLocks noGrp="1"/>
          </p:cNvSpPr>
          <p:nvPr>
            <p:ph type="body" idx="1"/>
          </p:nvPr>
        </p:nvSpPr>
        <p:spPr>
          <a:xfrm>
            <a:off x="457200" y="2045375"/>
            <a:ext cx="7620000" cy="435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Pearson correlation → Spearman correlation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Simple/multiple linear regression → Spearman correlation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Independent samples </a:t>
            </a:r>
            <a:r>
              <a:rPr lang="en-US" i="1">
                <a:solidFill>
                  <a:schemeClr val="dk1"/>
                </a:solidFill>
              </a:rPr>
              <a:t>t</a:t>
            </a:r>
            <a:r>
              <a:rPr lang="en-US">
                <a:solidFill>
                  <a:schemeClr val="dk1"/>
                </a:solidFill>
              </a:rPr>
              <a:t>-test: Mann-Whitney U test AKA Wilcoxon test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Paired samples </a:t>
            </a:r>
            <a:r>
              <a:rPr lang="en-US" i="1">
                <a:solidFill>
                  <a:schemeClr val="dk1"/>
                </a:solidFill>
              </a:rPr>
              <a:t>t</a:t>
            </a:r>
            <a:r>
              <a:rPr lang="en-US">
                <a:solidFill>
                  <a:schemeClr val="dk1"/>
                </a:solidFill>
              </a:rPr>
              <a:t>-test: Wilcoxon signed-rank test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One-Way and Two-Way ANOVA: Kruskal-Wallis Test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Repeated measures ANOVA: Friedman’s Test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Garamond"/>
              <a:buNone/>
            </a:pPr>
            <a:r>
              <a:rPr lang="en-US" sz="3200"/>
              <a:t>Note</a:t>
            </a:r>
            <a:endParaRPr sz="3200"/>
          </a:p>
        </p:txBody>
      </p:sp>
      <p:sp>
        <p:nvSpPr>
          <p:cNvPr id="224" name="Google Shape;22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500">
                <a:solidFill>
                  <a:schemeClr val="dk1"/>
                </a:solidFill>
              </a:rPr>
              <a:t>To copy output into word doc:</a:t>
            </a:r>
            <a:endParaRPr sz="2500">
              <a:solidFill>
                <a:schemeClr val="dk1"/>
              </a:solidFill>
            </a:endParaRPr>
          </a:p>
          <a:p>
            <a:pPr marL="640080" lvl="1" indent="-260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100">
                <a:solidFill>
                  <a:schemeClr val="dk1"/>
                </a:solidFill>
              </a:rPr>
              <a:t>Right click on table/piece of output wanting to copy</a:t>
            </a:r>
            <a:endParaRPr sz="2100">
              <a:solidFill>
                <a:schemeClr val="dk1"/>
              </a:solidFill>
            </a:endParaRPr>
          </a:p>
          <a:p>
            <a:pPr marL="640080" lvl="1" indent="-260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100">
                <a:solidFill>
                  <a:schemeClr val="dk1"/>
                </a:solidFill>
              </a:rPr>
              <a:t>Select Copy As</a:t>
            </a:r>
            <a:endParaRPr sz="2100">
              <a:solidFill>
                <a:schemeClr val="dk1"/>
              </a:solidFill>
            </a:endParaRPr>
          </a:p>
          <a:p>
            <a:pPr marL="640080" lvl="1" indent="-260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100">
                <a:solidFill>
                  <a:schemeClr val="dk1"/>
                </a:solidFill>
              </a:rPr>
              <a:t>In new dialog box, make sure ‘image’ is check marked</a:t>
            </a:r>
            <a:endParaRPr sz="2100">
              <a:solidFill>
                <a:schemeClr val="dk1"/>
              </a:solidFill>
            </a:endParaRPr>
          </a:p>
          <a:p>
            <a:pPr marL="640080" lvl="1" indent="-260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100">
                <a:solidFill>
                  <a:schemeClr val="dk1"/>
                </a:solidFill>
              </a:rPr>
              <a:t>Press ‘OK’</a:t>
            </a:r>
            <a:endParaRPr sz="2100">
              <a:solidFill>
                <a:schemeClr val="dk1"/>
              </a:solidFill>
            </a:endParaRPr>
          </a:p>
          <a:p>
            <a:pPr marL="640080" lvl="1" indent="-260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100">
                <a:solidFill>
                  <a:schemeClr val="dk1"/>
                </a:solidFill>
              </a:rPr>
              <a:t>In a Word file, right click and choose ‘paste image’</a:t>
            </a:r>
            <a:endParaRPr sz="2100">
              <a:solidFill>
                <a:schemeClr val="dk1"/>
              </a:solidFill>
            </a:endParaRPr>
          </a:p>
          <a:p>
            <a:pPr marL="640080" lvl="1" indent="-260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100">
                <a:solidFill>
                  <a:schemeClr val="dk1"/>
                </a:solidFill>
              </a:rPr>
              <a:t>You’ll need to do this for all your homework!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Macintosh PowerPoint</Application>
  <PresentationFormat>On-screen Show (4:3)</PresentationFormat>
  <Paragraphs>106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Garamond</vt:lpstr>
      <vt:lpstr>Simple Light</vt:lpstr>
      <vt:lpstr>Visualizing Data with Graphs &amp; Normality Testing</vt:lpstr>
      <vt:lpstr>Visualizing Relations</vt:lpstr>
      <vt:lpstr>Data Visualization</vt:lpstr>
      <vt:lpstr>Gold Standard for Data Visualization</vt:lpstr>
      <vt:lpstr>Practice Data Visualization: SPSS</vt:lpstr>
      <vt:lpstr>Scatterplot</vt:lpstr>
      <vt:lpstr>PowerPoint Presentation</vt:lpstr>
      <vt:lpstr>Boxplot</vt:lpstr>
      <vt:lpstr>PowerPoint Presentation</vt:lpstr>
      <vt:lpstr>Normality Testing</vt:lpstr>
      <vt:lpstr>What is Normality Testing?</vt:lpstr>
      <vt:lpstr>How Do We Test for Normality?</vt:lpstr>
      <vt:lpstr>What is Skewness?</vt:lpstr>
      <vt:lpstr>What is Kurtosis?</vt:lpstr>
      <vt:lpstr>Practice Normality Testing: SPSS</vt:lpstr>
      <vt:lpstr>Step 1: Make a Histogram</vt:lpstr>
      <vt:lpstr>PowerPoint Presentation</vt:lpstr>
      <vt:lpstr>Step 2: Check Skewness and Kurtosis</vt:lpstr>
      <vt:lpstr>Step 3: Run the Shapiro-Wilk Test for Normality</vt:lpstr>
      <vt:lpstr>What Do We Do If We Violate Normality?</vt:lpstr>
      <vt:lpstr>Analyses to Use When Normality Has Been Violated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Marler, Emily</cp:lastModifiedBy>
  <cp:revision>1</cp:revision>
  <dcterms:modified xsi:type="dcterms:W3CDTF">2026-01-12T17:02:10Z</dcterms:modified>
</cp:coreProperties>
</file>